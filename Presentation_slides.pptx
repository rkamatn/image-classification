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70" r:id="rId7"/>
    <p:sldId id="261" r:id="rId8"/>
    <p:sldId id="272" r:id="rId9"/>
    <p:sldId id="262" r:id="rId10"/>
    <p:sldId id="263" r:id="rId11"/>
    <p:sldId id="266" r:id="rId12"/>
    <p:sldId id="273" r:id="rId13"/>
    <p:sldId id="274" r:id="rId14"/>
    <p:sldId id="275" r:id="rId15"/>
    <p:sldId id="278" r:id="rId16"/>
    <p:sldId id="277" r:id="rId17"/>
  </p:sldIdLst>
  <p:sldSz cx="18288000" cy="10287000"/>
  <p:notesSz cx="6858000" cy="9144000"/>
  <p:embeddedFontLst>
    <p:embeddedFont>
      <p:font typeface="Montserrat" pitchFamily="2" charset="77"/>
      <p:regular r:id="rId19"/>
      <p:bold r:id="rId20"/>
      <p:italic r:id="rId21"/>
      <p:boldItalic r:id="rId22"/>
    </p:embeddedFont>
    <p:embeddedFont>
      <p:font typeface="Oswald Medium" panose="020F050202020403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58" autoAdjust="0"/>
    <p:restoredTop sz="74963" autoAdjust="0"/>
  </p:normalViewPr>
  <p:slideViewPr>
    <p:cSldViewPr>
      <p:cViewPr varScale="1">
        <p:scale>
          <a:sx n="58" d="100"/>
          <a:sy n="58" d="100"/>
        </p:scale>
        <p:origin x="113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795F4-622C-4749-B785-C409439222B9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0659-7E91-4D4E-9528-3FC0F8AA6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10659-7E91-4D4E-9528-3FC0F8AA6C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57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10659-7E91-4D4E-9528-3FC0F8AA6C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01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10659-7E91-4D4E-9528-3FC0F8AA6C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65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10659-7E91-4D4E-9528-3FC0F8AA6C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51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10659-7E91-4D4E-9528-3FC0F8AA6C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76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oogle.com/url?q=https%3A%2F%2Fwww.kaggle.com%2Fdatasets%2Fswoyam2609%2Ffresh-and-stale-classific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www.kaggle.com%2Fdatasets%2Fswoyam2609%2Ffresh-and-stale-classifica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810000" y="3544095"/>
            <a:ext cx="10194959" cy="2211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Oswald Medium"/>
              </a:rPr>
              <a:t>Classification of Fruits and Vegetables as Fresh or Rotten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2073" y="676066"/>
            <a:ext cx="2506349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swald Medium"/>
              </a:rPr>
              <a:t>DATA 5100 | 25FQ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3391C-543D-21E5-0FF6-A1CCCA931932}"/>
              </a:ext>
            </a:extLst>
          </p:cNvPr>
          <p:cNvSpPr txBox="1"/>
          <p:nvPr/>
        </p:nvSpPr>
        <p:spPr>
          <a:xfrm>
            <a:off x="14401800" y="7850037"/>
            <a:ext cx="3429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Rashmi Kamath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2718">
            <a:off x="-530090" y="530943"/>
            <a:ext cx="1608968" cy="547514"/>
          </a:xfrm>
          <a:custGeom>
            <a:avLst/>
            <a:gdLst/>
            <a:ahLst/>
            <a:cxnLst/>
            <a:rect l="l" t="t" r="r" b="b"/>
            <a:pathLst>
              <a:path w="1608968" h="547514">
                <a:moveTo>
                  <a:pt x="0" y="0"/>
                </a:moveTo>
                <a:lnTo>
                  <a:pt x="1608967" y="0"/>
                </a:lnTo>
                <a:lnTo>
                  <a:pt x="1608967" y="547514"/>
                </a:lnTo>
                <a:lnTo>
                  <a:pt x="0" y="547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55" r="-114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6432" y="214468"/>
            <a:ext cx="4105911" cy="95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2"/>
              </a:lnSpc>
            </a:pPr>
            <a:r>
              <a:rPr lang="en-US" sz="5580" dirty="0">
                <a:solidFill>
                  <a:srgbClr val="000000"/>
                </a:solidFill>
                <a:latin typeface="Oswald Medium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95600" y="2947033"/>
            <a:ext cx="12649200" cy="395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Introduction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Description of data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Description of analysis method 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Description of results supported by statistics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Conclusion</a:t>
            </a:r>
          </a:p>
          <a:p>
            <a:pPr>
              <a:lnSpc>
                <a:spcPts val="5180"/>
              </a:lnSpc>
            </a:pPr>
            <a:endParaRPr lang="en-US" sz="3700" dirty="0">
              <a:solidFill>
                <a:srgbClr val="000000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7112-90D3-5089-91A9-4FE2859A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E577D8-4E0F-4564-6B1C-D6E2926632C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E1B8F-E052-08A0-90BF-ABF2A0D1899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D8DE2C-7729-BED2-670A-90AB135735ED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369C40-F3AF-CD0D-A47B-4EF2A7EE223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D5E3C1-4D78-A5E3-BE83-7A6F1F1C35D3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3BBCD5-B39F-8F02-B806-FF1D38B48B34}"/>
              </a:ext>
            </a:extLst>
          </p:cNvPr>
          <p:cNvSpPr txBox="1"/>
          <p:nvPr/>
        </p:nvSpPr>
        <p:spPr>
          <a:xfrm>
            <a:off x="1932073" y="676066"/>
            <a:ext cx="22589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C5B3B-1733-3985-B117-A7F4F6F0C193}"/>
              </a:ext>
            </a:extLst>
          </p:cNvPr>
          <p:cNvSpPr txBox="1"/>
          <p:nvPr/>
        </p:nvSpPr>
        <p:spPr>
          <a:xfrm>
            <a:off x="2133600" y="2382934"/>
            <a:ext cx="135636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Image classification is a key area in computer vision.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Used in many industries: object detection, face recognition, medical imaging.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In the food industry, freshness of produce is vital for quality and safety.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Manual inspection is labor-intensive and inconsistent.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Deep learning offers an automated and reliable alternative.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6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49DC-70F3-67F5-4CA8-8348703B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27E8-259B-ACBE-B78D-BBFF31DBCB65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016CE3-5FB8-EB06-53A1-AA4DF899BB9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A3822F-7D10-7DE4-8C6B-0D1AFF851FD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DC9CE42-FDEA-45A8-E437-1041B635478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9CC3DD-2F38-56B1-9AEC-C2D26C9CDE40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D7C654-FA5C-6011-20D9-B7D8D5698424}"/>
              </a:ext>
            </a:extLst>
          </p:cNvPr>
          <p:cNvSpPr txBox="1"/>
          <p:nvPr/>
        </p:nvSpPr>
        <p:spPr>
          <a:xfrm>
            <a:off x="1752600" y="433019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BB303-2CCB-D2BD-D3F1-9986DBA572DC}"/>
              </a:ext>
            </a:extLst>
          </p:cNvPr>
          <p:cNvSpPr txBox="1"/>
          <p:nvPr/>
        </p:nvSpPr>
        <p:spPr>
          <a:xfrm>
            <a:off x="1981200" y="2870591"/>
            <a:ext cx="115422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Source: </a:t>
            </a:r>
            <a:r>
              <a:rPr lang="en-US" sz="3600" b="0" i="0" dirty="0">
                <a:solidFill>
                  <a:srgbClr val="A8C7FA"/>
                </a:solidFill>
                <a:effectLst/>
                <a:latin typeface="Google Sans Text"/>
                <a:hlinkClick r:id="rId4"/>
              </a:rPr>
              <a:t>Fresh and Rotten classification</a:t>
            </a:r>
            <a:r>
              <a:rPr lang="en-US" sz="3600" b="0" i="0" dirty="0">
                <a:solidFill>
                  <a:srgbClr val="E3E3E3"/>
                </a:solidFill>
                <a:effectLst/>
                <a:latin typeface="Google Sans Text"/>
              </a:rPr>
              <a:t>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Includes apples, bananas, oranges, cucumbers, okra, potatoes and tomatoes.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Images show both fresh and rotten states.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Thousands of high-resolution images with varied lighting and backgrounds.</a:t>
            </a:r>
          </a:p>
        </p:txBody>
      </p:sp>
    </p:spTree>
    <p:extLst>
      <p:ext uri="{BB962C8B-B14F-4D97-AF65-F5344CB8AC3E}">
        <p14:creationId xmlns:p14="http://schemas.microsoft.com/office/powerpoint/2010/main" val="69023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90AC-16D5-E86E-4EE2-CEB23023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9B3695B-6C04-2F89-A245-FDA82317966B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7A49BB-7ADA-EDB3-862B-9E4A5BEBE5FC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F4AB00-7DF7-E0F9-0B5E-FD07300A56E0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3D9084B-7958-3068-EDFB-F7BC194D3B01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21121D7-28E5-BC4B-BB48-E1C2DA32A0CC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980CC98-7631-C198-C336-4956E73A6CC0}"/>
              </a:ext>
            </a:extLst>
          </p:cNvPr>
          <p:cNvSpPr txBox="1"/>
          <p:nvPr/>
        </p:nvSpPr>
        <p:spPr>
          <a:xfrm>
            <a:off x="1752600" y="43301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Potential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FF143-AF43-4A7A-44CA-483E1C19AAEC}"/>
              </a:ext>
            </a:extLst>
          </p:cNvPr>
          <p:cNvSpPr txBox="1"/>
          <p:nvPr/>
        </p:nvSpPr>
        <p:spPr>
          <a:xfrm>
            <a:off x="2038221" y="3019841"/>
            <a:ext cx="122400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/>
              <a:t>Food Quality Inspection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/>
              <a:t>Smart Refrigeration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/>
              <a:t>Retail &amp; E-commerce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/>
              <a:t>Agriculture &amp; Farming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04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36A-FA0B-7F35-6085-88BA71D4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AF1CF-2012-D951-43B1-8236B4BD026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1B5D63-EEAA-7E00-FCD0-6C71A959DA2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CCB65D-C8E3-1AE5-F922-8DAA7525F08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93819B0-8FEF-DED5-36B1-C5D3802BFA4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0C97F3-38AD-BB06-2C91-A92B004F8BB9}"/>
              </a:ext>
            </a:extLst>
          </p:cNvPr>
          <p:cNvSpPr/>
          <p:nvPr/>
        </p:nvSpPr>
        <p:spPr>
          <a:xfrm>
            <a:off x="0" y="17656"/>
            <a:ext cx="3968151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AD0FB9-C6DF-2778-987F-3B1D14EF543A}"/>
              </a:ext>
            </a:extLst>
          </p:cNvPr>
          <p:cNvSpPr txBox="1"/>
          <p:nvPr/>
        </p:nvSpPr>
        <p:spPr>
          <a:xfrm>
            <a:off x="457200" y="450675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Analysis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DF4FCA-3058-2BB5-86B1-BAE505806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351" y="1380203"/>
            <a:ext cx="12491049" cy="7820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1DFA9-97A6-75FF-C15E-92411A25335D}"/>
              </a:ext>
            </a:extLst>
          </p:cNvPr>
          <p:cNvSpPr txBox="1"/>
          <p:nvPr/>
        </p:nvSpPr>
        <p:spPr>
          <a:xfrm>
            <a:off x="4724400" y="412200"/>
            <a:ext cx="1130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Understanding the Data</a:t>
            </a:r>
          </a:p>
        </p:txBody>
      </p:sp>
    </p:spTree>
    <p:extLst>
      <p:ext uri="{BB962C8B-B14F-4D97-AF65-F5344CB8AC3E}">
        <p14:creationId xmlns:p14="http://schemas.microsoft.com/office/powerpoint/2010/main" val="1945501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289-C3FD-8892-1747-3260886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0BCDF1-1638-A6C6-B6E4-09638B365B9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097809-9CA6-16C8-83ED-12DF38B0884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E4E586-7106-3289-06DE-591DD3CC73C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ACFB44-C13F-0E61-0791-7A9FA0003B6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9F774-F504-9B0C-39CC-712F43DBF689}"/>
              </a:ext>
            </a:extLst>
          </p:cNvPr>
          <p:cNvSpPr/>
          <p:nvPr/>
        </p:nvSpPr>
        <p:spPr>
          <a:xfrm>
            <a:off x="-1438" y="-10783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E72C6-7637-ACC1-82A4-2C84D084FF10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88ABA-BB3C-E0E3-C799-2BE0414E0364}"/>
              </a:ext>
            </a:extLst>
          </p:cNvPr>
          <p:cNvSpPr txBox="1"/>
          <p:nvPr/>
        </p:nvSpPr>
        <p:spPr>
          <a:xfrm>
            <a:off x="1752600" y="1811756"/>
            <a:ext cx="1559392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model is based on the </a:t>
            </a:r>
            <a:r>
              <a:rPr lang="en-US" sz="3600" b="1" dirty="0"/>
              <a:t>ResNet-34 deep neural network</a:t>
            </a:r>
            <a:r>
              <a:rPr lang="en-US" sz="3600" dirty="0"/>
              <a:t>, originally trained on the </a:t>
            </a:r>
            <a:r>
              <a:rPr lang="en-US" sz="3600" b="1" dirty="0"/>
              <a:t>ImageNet</a:t>
            </a:r>
            <a:r>
              <a:rPr lang="en-US" sz="3600" dirty="0"/>
              <a:t> dataset.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Retrained</a:t>
            </a:r>
            <a:r>
              <a:rPr lang="en-US" sz="3600" dirty="0"/>
              <a:t> it to identify whether fruits and vegetables are </a:t>
            </a:r>
            <a:r>
              <a:rPr lang="en-US" sz="3600" b="1" dirty="0"/>
              <a:t>fresh or rotten</a:t>
            </a:r>
            <a:r>
              <a:rPr lang="en-US" sz="36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model keeps learning until the </a:t>
            </a:r>
            <a:r>
              <a:rPr lang="en-US" sz="3600" b="1" dirty="0"/>
              <a:t>error rate</a:t>
            </a:r>
            <a:r>
              <a:rPr lang="en-US" sz="3600" dirty="0"/>
              <a:t> i.e. the number of wrong predictions is minimized.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 this case , I have retrained for 2 epochs(training rounds).</a:t>
            </a:r>
          </a:p>
          <a:p>
            <a:endParaRPr lang="en-US" sz="3600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1EF210-C408-C432-0491-B26060462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76356" y="6230190"/>
            <a:ext cx="20890828" cy="352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2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6371-5219-07DA-D47D-63A04A6D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DD45BE-B01C-2D20-DA42-8F0F6737F97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3D0AEA-A717-2BC3-3F77-3CE1B0B5C18A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E9A386-74F2-D8A2-3780-B8055163024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EDAA924-2206-A3D3-928B-600E89403625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A3CF1A2-F897-B6B6-EC71-BF8BBE5BBCAE}"/>
              </a:ext>
            </a:extLst>
          </p:cNvPr>
          <p:cNvSpPr/>
          <p:nvPr/>
        </p:nvSpPr>
        <p:spPr>
          <a:xfrm>
            <a:off x="0" y="0"/>
            <a:ext cx="4648200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131F37-9C24-3934-F770-8010F64910CD}"/>
              </a:ext>
            </a:extLst>
          </p:cNvPr>
          <p:cNvSpPr txBox="1"/>
          <p:nvPr/>
        </p:nvSpPr>
        <p:spPr>
          <a:xfrm>
            <a:off x="1070925" y="67154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Results</a:t>
            </a:r>
          </a:p>
        </p:txBody>
      </p:sp>
      <p:sp>
        <p:nvSpPr>
          <p:cNvPr id="10" name="AutoShape 2" descr="Uploaded image">
            <a:extLst>
              <a:ext uri="{FF2B5EF4-FFF2-40B4-BE49-F238E27FC236}">
                <a16:creationId xmlns:a16="http://schemas.microsoft.com/office/drawing/2014/main" id="{C82796D0-2CE7-9651-FB35-0D578EB6B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5812" y="2909508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4" descr="Uploaded image">
            <a:extLst>
              <a:ext uri="{FF2B5EF4-FFF2-40B4-BE49-F238E27FC236}">
                <a16:creationId xmlns:a16="http://schemas.microsoft.com/office/drawing/2014/main" id="{DEAF7867-BC92-FFAB-FC03-E5F12D0AEB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263606"/>
            <a:ext cx="1032294" cy="10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6" descr="Uploaded image">
            <a:extLst>
              <a:ext uri="{FF2B5EF4-FFF2-40B4-BE49-F238E27FC236}">
                <a16:creationId xmlns:a16="http://schemas.microsoft.com/office/drawing/2014/main" id="{E2B66E34-B497-3B49-924B-449FCC8C1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4416006"/>
            <a:ext cx="1032294" cy="10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14905D-789E-DFC5-1BBC-4DAD8EF44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199" y="31922"/>
            <a:ext cx="11574664" cy="92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3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7222-CBDA-2DEB-0FB7-4F2B4945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666738-C4E3-47A5-7692-4860684254C9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077F4D-275B-1C00-47E0-49503E960C8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8A4F538-397F-2362-849B-8FDD19535330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91D53E8-359D-7F39-9B25-660A0CCB6B97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3391541-3E15-8DD5-4900-634ECAB66719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1F31D39-C00A-1AFE-DD02-9048610CB993}"/>
              </a:ext>
            </a:extLst>
          </p:cNvPr>
          <p:cNvSpPr txBox="1"/>
          <p:nvPr/>
        </p:nvSpPr>
        <p:spPr>
          <a:xfrm>
            <a:off x="1932073" y="67606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72DE4-5A97-61E7-53E6-2F8364C84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1908381"/>
            <a:ext cx="13944600" cy="714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9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AC49-BBAD-012D-874B-2F7C8111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915408-9C12-A8F9-641A-7D5F5856239A}"/>
              </a:ext>
            </a:extLst>
          </p:cNvPr>
          <p:cNvGrpSpPr/>
          <p:nvPr/>
        </p:nvGrpSpPr>
        <p:grpSpPr>
          <a:xfrm>
            <a:off x="-24063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C0E393-F3A7-D789-ECAA-D93CCD01FF83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846603-C0D9-16FA-FFC4-DD949AA4951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838C5D3-58DF-E7F0-0A6B-A5818AB54115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645F4B9-8AF0-6568-0094-495E7EC44AF7}"/>
              </a:ext>
            </a:extLst>
          </p:cNvPr>
          <p:cNvSpPr/>
          <p:nvPr/>
        </p:nvSpPr>
        <p:spPr>
          <a:xfrm>
            <a:off x="0" y="0"/>
            <a:ext cx="4038600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8651DD-E1E1-4E0B-4B72-D6F67ABC880A}"/>
              </a:ext>
            </a:extLst>
          </p:cNvPr>
          <p:cNvSpPr txBox="1"/>
          <p:nvPr/>
        </p:nvSpPr>
        <p:spPr>
          <a:xfrm>
            <a:off x="533400" y="67154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Deployment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DA5B13-271B-1690-050F-2C1D1960F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845091"/>
            <a:ext cx="11811000" cy="70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09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A57D-731D-E585-CD3C-E8B93CFF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D1875A-EA95-ABBD-8BD8-AE6CC0195A1A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B35F35-B0E1-97CB-E592-5712E1C20FBB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714480-3F49-32F2-AF74-5D8F89BC5DF2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4C5BEF0-59E1-0DB2-7884-CDC6413240CF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BB268C-08C1-C599-1F0B-F237A5A215AE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576285-83C0-879C-F25C-FA0F4DB3387E}"/>
              </a:ext>
            </a:extLst>
          </p:cNvPr>
          <p:cNvSpPr txBox="1"/>
          <p:nvPr/>
        </p:nvSpPr>
        <p:spPr>
          <a:xfrm>
            <a:off x="1932073" y="67606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9EEAF-3334-6493-8C80-1939C161E80A}"/>
              </a:ext>
            </a:extLst>
          </p:cNvPr>
          <p:cNvSpPr txBox="1"/>
          <p:nvPr/>
        </p:nvSpPr>
        <p:spPr>
          <a:xfrm>
            <a:off x="2231132" y="3033438"/>
            <a:ext cx="126983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Automate freshness detection for fruits and vegetables.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ResNet-34 architecture.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Achieved  about 99% accuracy, showing strong generalization across lighting, texture, and background variations.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manual inspection effort and improves consistency in food-quality assessment.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2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C17B2-2128-0923-ABDC-9085E733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39534E-13EE-192E-95F3-0FE8C3CE25E0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0AB9FDE-9328-42A2-E467-0334BF3A0619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DFBBC15-407A-3ED4-169C-09AA55D2E11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DBBBD54-A1A7-9D97-BA9B-CB2CD78836D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1090F4A-CC2F-0682-DAA0-65C71B180C8C}"/>
              </a:ext>
            </a:extLst>
          </p:cNvPr>
          <p:cNvSpPr txBox="1"/>
          <p:nvPr/>
        </p:nvSpPr>
        <p:spPr>
          <a:xfrm>
            <a:off x="1932073" y="67606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39982-5059-67F9-FA95-A8DC13CF4106}"/>
              </a:ext>
            </a:extLst>
          </p:cNvPr>
          <p:cNvSpPr txBox="1"/>
          <p:nvPr/>
        </p:nvSpPr>
        <p:spPr>
          <a:xfrm>
            <a:off x="1932074" y="2391627"/>
            <a:ext cx="141190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References:</a:t>
            </a:r>
          </a:p>
          <a:p>
            <a:br>
              <a:rPr lang="en-US" sz="3200" dirty="0"/>
            </a:br>
            <a:r>
              <a:rPr lang="en-US" sz="3200" dirty="0" err="1"/>
              <a:t>Tuğçe</a:t>
            </a:r>
            <a:r>
              <a:rPr lang="en-US" sz="3200" dirty="0"/>
              <a:t> </a:t>
            </a:r>
            <a:r>
              <a:rPr lang="en-US" sz="3200" dirty="0" err="1"/>
              <a:t>Göksu,Zeliha</a:t>
            </a:r>
            <a:r>
              <a:rPr lang="en-US" sz="3200" dirty="0"/>
              <a:t> </a:t>
            </a:r>
            <a:r>
              <a:rPr lang="en-US" sz="3200" dirty="0" err="1"/>
              <a:t>Kaya,Shaaban</a:t>
            </a:r>
            <a:r>
              <a:rPr lang="en-US" sz="3200" dirty="0"/>
              <a:t> </a:t>
            </a:r>
            <a:r>
              <a:rPr lang="en-US" sz="3200" dirty="0" err="1"/>
              <a:t>Sahmood</a:t>
            </a:r>
            <a:r>
              <a:rPr lang="en-US" sz="3200" dirty="0"/>
              <a:t>-Classification of Fruit Images as Fresh and </a:t>
            </a:r>
            <a:r>
              <a:rPr lang="en-US" sz="3200" dirty="0" err="1"/>
              <a:t>Rotten.Using</a:t>
            </a:r>
            <a:r>
              <a:rPr lang="en-US" sz="3200" dirty="0"/>
              <a:t> Convolutional Neural Networks, 2023 3rd International Conference on Computing and Information Technology (ICCIT),</a:t>
            </a:r>
          </a:p>
          <a:p>
            <a:r>
              <a:rPr lang="en-US" sz="3200" dirty="0"/>
              <a:t>FCIT, University of Tabuk, KSA. 13 and 14/Sep/2023.</a:t>
            </a:r>
          </a:p>
          <a:p>
            <a:endParaRPr lang="en-US" sz="3200" dirty="0"/>
          </a:p>
          <a:p>
            <a:r>
              <a:rPr lang="en-US" sz="3200" dirty="0"/>
              <a:t>Kaggle: </a:t>
            </a:r>
            <a:r>
              <a:rPr lang="en-US" sz="3200" b="0" i="0" dirty="0">
                <a:solidFill>
                  <a:srgbClr val="A8C7FA"/>
                </a:solidFill>
                <a:effectLst/>
                <a:latin typeface="Google Sans Text"/>
                <a:hlinkClick r:id="rId3"/>
              </a:rPr>
              <a:t>Fresh and Rotten classification</a:t>
            </a:r>
            <a:r>
              <a:rPr lang="en-US" sz="3200" b="0" i="0" dirty="0">
                <a:solidFill>
                  <a:srgbClr val="E3E3E3"/>
                </a:solidFill>
                <a:effectLst/>
                <a:latin typeface="Google Sans Text"/>
              </a:rPr>
              <a:t>.</a:t>
            </a:r>
            <a:br>
              <a:rPr lang="en-US" sz="3200" dirty="0"/>
            </a:br>
            <a:r>
              <a:rPr lang="en-US" sz="3200" dirty="0"/>
              <a:t>Tutorials : Dr Brian Fischer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1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7CC9-CA38-B411-8A1A-AF0BB78A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A954-A3F6-23DC-B248-098B7C1C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3799397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59744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71AAF82D974DA0302843D413C0DC" ma:contentTypeVersion="17" ma:contentTypeDescription="Create a new document." ma:contentTypeScope="" ma:versionID="347cad82de7c514b6601bfa2a37a78a6">
  <xsd:schema xmlns:xsd="http://www.w3.org/2001/XMLSchema" xmlns:xs="http://www.w3.org/2001/XMLSchema" xmlns:p="http://schemas.microsoft.com/office/2006/metadata/properties" xmlns:ns2="90bfa618-64d6-4f98-860f-1bba87795c0a" xmlns:ns3="915351b3-9d83-48b3-ac22-e3c9aaa21acc" targetNamespace="http://schemas.microsoft.com/office/2006/metadata/properties" ma:root="true" ma:fieldsID="aac7e9cee1fa94fd2b28b4f9c7177d59" ns2:_="" ns3:_="">
    <xsd:import namespace="90bfa618-64d6-4f98-860f-1bba87795c0a"/>
    <xsd:import namespace="915351b3-9d83-48b3-ac22-e3c9aaa21a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LengthInSeconds" minOccurs="0"/>
                <xsd:element ref="ns2:PLEASEDOWNLOADANDSAVEBEFOREUSE" minOccurs="0"/>
                <xsd:element ref="ns2:Dateand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a618-64d6-4f98-860f-1bba87795c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6cb9138-4e5c-4f96-9d77-c435c3151f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21" nillable="true" ma:displayName="Thumbnail" ma:format="Thumbnail" ma:internalName="Thumbnail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PLEASEDOWNLOADANDSAVEBEFOREUSE" ma:index="23" nillable="true" ma:displayName="DOWNLOAD FILE BEFORE USE" ma:format="Dropdown" ma:internalName="PLEASEDOWNLOADANDSAVEBEFOREUSE">
      <xsd:simpleType>
        <xsd:restriction base="dms:Text">
          <xsd:maxLength value="255"/>
        </xsd:restriction>
      </xsd:simple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51b3-9d83-48b3-ac22-e3c9aaa21a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87a5966-f4e5-4a9a-aa9a-843f697f4b1e}" ma:internalName="TaxCatchAll" ma:showField="CatchAllData" ma:web="915351b3-9d83-48b3-ac22-e3c9aaa21a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5351b3-9d83-48b3-ac22-e3c9aaa21acc" xsi:nil="true"/>
    <lcf76f155ced4ddcb4097134ff3c332f xmlns="90bfa618-64d6-4f98-860f-1bba87795c0a">
      <Terms xmlns="http://schemas.microsoft.com/office/infopath/2007/PartnerControls"/>
    </lcf76f155ced4ddcb4097134ff3c332f>
    <Thumbnail xmlns="90bfa618-64d6-4f98-860f-1bba87795c0a" xsi:nil="true"/>
    <PLEASEDOWNLOADANDSAVEBEFOREUSE xmlns="90bfa618-64d6-4f98-860f-1bba87795c0a" xsi:nil="true"/>
    <Dateandtime xmlns="90bfa618-64d6-4f98-860f-1bba87795c0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67A1C-3DDC-4CEC-8406-B1C9CE7DFD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a618-64d6-4f98-860f-1bba87795c0a"/>
    <ds:schemaRef ds:uri="915351b3-9d83-48b3-ac22-e3c9aaa21a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256CB6-7CC2-4951-B6D4-D49A5657139B}">
  <ds:schemaRefs>
    <ds:schemaRef ds:uri="http://schemas.microsoft.com/office/2006/metadata/properties"/>
    <ds:schemaRef ds:uri="http://schemas.microsoft.com/office/infopath/2007/PartnerControls"/>
    <ds:schemaRef ds:uri="915351b3-9d83-48b3-ac22-e3c9aaa21acc"/>
    <ds:schemaRef ds:uri="90bfa618-64d6-4f98-860f-1bba87795c0a"/>
  </ds:schemaRefs>
</ds:datastoreItem>
</file>

<file path=customXml/itemProps3.xml><?xml version="1.0" encoding="utf-8"?>
<ds:datastoreItem xmlns:ds="http://schemas.openxmlformats.org/officeDocument/2006/customXml" ds:itemID="{858E24E1-0D68-48DA-A645-987BD3EB4D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330</Words>
  <Application>Microsoft Macintosh PowerPoint</Application>
  <PresentationFormat>Custom</PresentationFormat>
  <Paragraphs>68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Oswald Medium</vt:lpstr>
      <vt:lpstr>Montserrat</vt:lpstr>
      <vt:lpstr>Calibri</vt:lpstr>
      <vt:lpstr>Google Sans Text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ppt - Option 1</dc:title>
  <cp:lastModifiedBy>Rashmi Kamath</cp:lastModifiedBy>
  <cp:revision>21</cp:revision>
  <dcterms:created xsi:type="dcterms:W3CDTF">2006-08-16T00:00:00Z</dcterms:created>
  <dcterms:modified xsi:type="dcterms:W3CDTF">2025-11-05T18:03:58Z</dcterms:modified>
  <dc:identifier>DAF3iLWRa4M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0x010100F28C71AAF82D974DA0302843D413C0DC</vt:lpwstr>
  </property>
  <property fmtid="{D5CDD505-2E9C-101B-9397-08002B2CF9AE}" pid="3" name="MediaServiceImageTags">
    <vt:lpwstr/>
  </property>
</Properties>
</file>